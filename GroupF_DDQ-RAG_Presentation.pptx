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19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671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DDQ/RFP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Due Diligence A</a:t>
            </a:r>
            <a:r>
              <a:rPr lang="en-US" altLang="zh-CN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ssistance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18288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RAG-Powered System for Automated Compliance Questionnaire Processing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Semantic Search and Large Language Models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DDQ-RAG  |  Business Analytics  |  CUHK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89E40B-5C8F-F071-8836-5E46DD7B59B6}"/>
              </a:ext>
            </a:extLst>
          </p:cNvPr>
          <p:cNvSpPr txBox="1"/>
          <p:nvPr/>
        </p:nvSpPr>
        <p:spPr>
          <a:xfrm>
            <a:off x="731520" y="4785997"/>
            <a:ext cx="305788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solidFill>
                  <a:schemeClr val="bg1"/>
                </a:solidFill>
              </a:rPr>
              <a:t>GROUP F</a:t>
            </a:r>
          </a:p>
          <a:p>
            <a:r>
              <a:rPr lang="en-US" altLang="zh-CN" sz="2000" b="1" dirty="0">
                <a:solidFill>
                  <a:schemeClr val="bg1"/>
                </a:solidFill>
              </a:rPr>
              <a:t>He Liu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1155252547 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Due Diligence Challenge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investors and compliance teams must review hundreds of pages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policy documents, security assessments, and regulatory filings.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47472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148840" y="2514600"/>
            <a:ext cx="502920" cy="50292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1488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Scale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6576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questionnaires span 50–200+ questions across multiple domains. Manual review is slow and costly.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347472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897880" y="2514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8978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Gaps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36576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reviewers apply varying standards. Answers drift across documents and reviewers.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2331720"/>
            <a:ext cx="347472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646920" y="251460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6469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Traceability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58200" y="36576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automated citations, it’s hard to trace answers back to source documents for audit.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698480" cy="594360"/>
          </a:xfrm>
          <a:prstGeom prst="rect">
            <a:avLst/>
          </a:prstGeom>
          <a:solidFill>
            <a:srgbClr val="263348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05840" y="539496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question: Can we automate due diligence while maintaining accuracy and full source traceability?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DDQ-RAG  |  Business Analytics  |  CUHK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15600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62344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Architecture: The RAG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grounds LLM answers in verified source documents,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hallucination and ensuring every answer is backed by evidence.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325880" cy="1143000"/>
          </a:xfrm>
          <a:prstGeom prst="rect">
            <a:avLst/>
          </a:prstGeom>
          <a:solidFill>
            <a:srgbClr val="263348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PDF/DOCX/TXT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92808" y="2770632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30552" y="2331720"/>
            <a:ext cx="1325880" cy="1143000"/>
          </a:xfrm>
          <a:prstGeom prst="rect">
            <a:avLst/>
          </a:prstGeom>
          <a:solidFill>
            <a:srgbClr val="263348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130552" y="24688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30552" y="29260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Clean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0" y="2770632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12464" y="2331720"/>
            <a:ext cx="1325880" cy="1143000"/>
          </a:xfrm>
          <a:prstGeom prst="rect">
            <a:avLst/>
          </a:prstGeom>
          <a:solidFill>
            <a:srgbClr val="1D4A5A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712464" y="24688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12464" y="29260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chars +60 overlap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56632" y="2770632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94376" y="2331720"/>
            <a:ext cx="1325880" cy="1143000"/>
          </a:xfrm>
          <a:prstGeom prst="rect">
            <a:avLst/>
          </a:prstGeom>
          <a:solidFill>
            <a:srgbClr val="1D3D5A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294376" y="24688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94376" y="29260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(768d)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38544" y="2770632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76288" y="2331720"/>
            <a:ext cx="1325880" cy="1143000"/>
          </a:xfrm>
          <a:prstGeom prst="rect">
            <a:avLst/>
          </a:prstGeom>
          <a:solidFill>
            <a:srgbClr val="263348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876288" y="24688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76288" y="29260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FAISS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0456" y="2770632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58200" y="2331720"/>
            <a:ext cx="1325880" cy="1143000"/>
          </a:xfrm>
          <a:prstGeom prst="rect">
            <a:avLst/>
          </a:prstGeom>
          <a:solidFill>
            <a:srgbClr val="1D4A5A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458200" y="24688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58200" y="29260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+ Lexical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802368" y="2770632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40112" y="2331720"/>
            <a:ext cx="1325880" cy="1143000"/>
          </a:xfrm>
          <a:prstGeom prst="rect">
            <a:avLst/>
          </a:prstGeom>
          <a:solidFill>
            <a:srgbClr val="263348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0040112" y="24688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40112" y="29260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Local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processes raw documents through 7 stages. Each query retrieves the top-7 most semantically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chunks, which are then fed to the LLM as grounding context for evidence-based answer generation.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4663440"/>
            <a:ext cx="347472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05840" y="4754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1005840" y="5349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per chunk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80560" y="4663440"/>
            <a:ext cx="347472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754880" y="4754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Top-7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4754880" y="5349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retrieved per query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229600" y="4663440"/>
            <a:ext cx="3474720" cy="1325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503920" y="4754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0.40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8503920" y="5349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threshold gate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DDQ-RAG  |  Business Analytics  |  CUHK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515600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Chunking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determines how documents are split into retrievable pieces.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chunking = poor retrieval, regardless of the embedding model.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3291840" cy="1051560"/>
          </a:xfrm>
          <a:prstGeom prst="rect">
            <a:avLst/>
          </a:prstGeom>
          <a:solidFill>
            <a:srgbClr val="1D4A5A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 (400 chars)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company maintains a comprehensive incident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plan that is reviewed and updated on an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basis. The plan covers data breach...”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834640" y="5029200"/>
            <a:ext cx="3291840" cy="1051560"/>
          </a:xfrm>
          <a:prstGeom prst="rect">
            <a:avLst/>
          </a:prstGeom>
          <a:solidFill>
            <a:srgbClr val="1D3D5A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017520" y="5120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 (400 chars)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5440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“...on an annual basis. The plan covers data breach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procedures, including timelines for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notifying affected customers within 72 hours...”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886200"/>
            <a:ext cx="548640" cy="178308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383280" y="4434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char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58368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Boundary-Aware Splitting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2670048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58368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69480" y="26517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breaks first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69480" y="29077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prefer \n\n boundaries to keep related sentences together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0" y="3447288"/>
            <a:ext cx="502920" cy="502920"/>
          </a:xfrm>
          <a:prstGeom prst="ellipse">
            <a:avLst/>
          </a:prstGeom>
          <a:solidFill>
            <a:srgbClr val="2633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83680" y="3447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34290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Sentence-end fallback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36850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paragraph break is near, splits at period + space + capital letter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83680" y="4224528"/>
            <a:ext cx="502920" cy="502920"/>
          </a:xfrm>
          <a:prstGeom prst="ellipse">
            <a:avLst/>
          </a:prstGeom>
          <a:solidFill>
            <a:srgbClr val="2633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583680" y="4224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69480" y="4206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Word-boundary guarantee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69480" y="44622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splits in the middle of a word — last resort is a space character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83680" y="5001768"/>
            <a:ext cx="502920" cy="502920"/>
          </a:xfrm>
          <a:prstGeom prst="ellipse">
            <a:avLst/>
          </a:prstGeom>
          <a:solidFill>
            <a:srgbClr val="2633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583680" y="5001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69480" y="49834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cleanup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69480" y="52395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fragments (mid-sentence starts) are stripped to ensure coherent context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solidFill>
            <a:srgbClr val="263348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05840" y="6016752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400 + 60?  —  400 chars provides enough semantic context for BGE-M3 to encode meaning.  60-char overlap ensures no concept is split across chunk boundaries.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DDQ-RAG  |  Business Analytics  |  CUHK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15600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Search &amp; Retrieval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Embedding Model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Developed by BAAI (Beijing Academy of AI) — state-of-the-art multilingual embedding model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4505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768-dimensional dense vectors encode semantic meaning beyond keyword matching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88950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Runs fully offline — no API calls, no data leaving the local environment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32841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 model handles both dense retrieval (cosine similarity) and sparse lexical matching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7673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Loaded once at startup into memory for sub-100ms embedding queries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1660830"/>
            <a:ext cx="3840480" cy="2971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09244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Pipeline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92440" y="2103120"/>
            <a:ext cx="502920" cy="502920"/>
          </a:xfrm>
          <a:prstGeom prst="ellipse">
            <a:avLst/>
          </a:prstGeom>
          <a:solidFill>
            <a:srgbClr val="2633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0924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78240" y="2057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78240" y="22585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encodes question → 768d vector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92440" y="2606040"/>
            <a:ext cx="502920" cy="502920"/>
          </a:xfrm>
          <a:prstGeom prst="ellipse">
            <a:avLst/>
          </a:prstGeom>
          <a:solidFill>
            <a:srgbClr val="2633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0924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78240" y="2560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78240" y="27614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all chunks in SQLite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092440" y="3108960"/>
            <a:ext cx="502920" cy="502920"/>
          </a:xfrm>
          <a:prstGeom prst="ellipse">
            <a:avLst/>
          </a:prstGeom>
          <a:solidFill>
            <a:srgbClr val="2633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0924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778240" y="3063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Calibration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78240" y="32644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with keyword-match scoring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092440" y="3611880"/>
            <a:ext cx="502920" cy="502920"/>
          </a:xfrm>
          <a:prstGeom prst="ellipse">
            <a:avLst/>
          </a:prstGeom>
          <a:solidFill>
            <a:srgbClr val="2633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09244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778240" y="3566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Top-7 Selection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78240" y="37673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highest calibrated scores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092440" y="4114800"/>
            <a:ext cx="502920" cy="502920"/>
          </a:xfrm>
          <a:prstGeom prst="ellipse">
            <a:avLst/>
          </a:prstGeom>
          <a:solidFill>
            <a:srgbClr val="2633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0924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778240" y="4069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Gate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778240" y="4270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if best score &lt; 0.40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1520" y="4663440"/>
            <a:ext cx="10698480" cy="1417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0584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Similarity Scoring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5166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 = α × cosine(query, chunk)  +  (1 − α) × lexical_overlap(query, chunk)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5840" y="5532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semantic search can miss exact terminology matches. Calibration blends dense vector similarity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lexical token overlap, ensuring both conceptual and literal matches are captured.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DDQ-RAG  |  Business Analytics  |  CUHK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15600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Generation &amp; Confidence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03520" cy="4663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Pipeline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240280"/>
            <a:ext cx="45720" cy="7772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34440" y="2240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5146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are sorted by calibrated similarity and formatted into a structured prompt with source metadata (doc name, page number).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3246120"/>
            <a:ext cx="45720" cy="7772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34440" y="3246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3520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sent to Gemini 3.1 Flash Lite. The model is instructed to answer ONLY from provided context, never from prior knowledge.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4251960"/>
            <a:ext cx="45720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34440" y="4251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Injection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4526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citations are stripped and replaced with verified retrieval metadata. Every claim is linked to its source chunk with document name and page.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05840" y="5257800"/>
            <a:ext cx="45720" cy="77724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5257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Fallback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55321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LLM is available, the system falls back to extractive mode: top chunks are returned directly with highlighted relevant spans.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17920" y="2057400"/>
            <a:ext cx="5303520" cy="868680"/>
          </a:xfrm>
          <a:prstGeom prst="rect">
            <a:avLst/>
          </a:prstGeom>
          <a:solidFill>
            <a:srgbClr val="052E16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46520" y="2130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≥ 0.65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retrieval support,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chunks agree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3108960"/>
            <a:ext cx="5303520" cy="868680"/>
          </a:xfrm>
          <a:prstGeom prst="rect">
            <a:avLst/>
          </a:prstGeom>
          <a:solidFill>
            <a:srgbClr val="332408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446520" y="31821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 0.40–0.64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3474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evidence but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uncertainty remains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4160520"/>
            <a:ext cx="5303520" cy="868680"/>
          </a:xfrm>
          <a:prstGeom prst="rect">
            <a:avLst/>
          </a:prstGeom>
          <a:solidFill>
            <a:srgbClr val="2E0510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46520" y="4233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/ Refusal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4526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 gate,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to human review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5303520"/>
            <a:ext cx="5303520" cy="868680"/>
          </a:xfrm>
          <a:prstGeom prst="rect">
            <a:avLst/>
          </a:prstGeom>
          <a:solidFill>
            <a:srgbClr val="263348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446520" y="5394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Human Review Queue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5715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answers and retrieval failures are automatically enqueued for human review. Reviewers can approve, reject, or annotate — creating a feedback loop that improves the knowledge base.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DDQ-RAG  |  Business Analytics  |  CUHK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15600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5212080" cy="1874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005840" y="1828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F2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57400" y="1783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22860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PySide6 GUI with tabs for inquiry, Excel processing, document library management, and review queue. Built as a standalone Windows executable.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212080" cy="1874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446520" y="1828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A2E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465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98080" y="1783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Excel Processing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0" y="22860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DDQ Excel file → each row is a question. The pipeline processes every question, writes formal answers with confidence scores into new columns.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5212080" cy="1874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005840" y="39776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2E220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3977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057400" y="3931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Library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57400" y="44348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entire folders of PDF/DOCX/TXT files. Documents are chunked, embedded, and stored. Stale document detection flags files that need re-indexing.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3657600"/>
            <a:ext cx="5212080" cy="1874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46520" y="39776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E12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446520" y="3977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98080" y="3931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Architecture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0" y="44348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runs entirely locally. No data leaves the machine during embedding. LLM generation is the only optional network call — and even that can be bypassed with extractive mode.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5806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6035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BGE-M3 (BAAI)  ·  SQLite  ·  PySide6 (Qt)  ·  Gemini API  ·  OpenRouter  ·  FAISS  ·  PyInstaller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DDQ-RAG  |  Business Analytics  |  CUHK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515600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508760" y="1645920"/>
            <a:ext cx="45720" cy="5029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737360" y="157276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eliminates hallucination by grounding LLM responses in verified source documents with full citation traceability.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508760" y="2560320"/>
            <a:ext cx="45720" cy="5029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737360" y="248716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chunking (400 chars + 60 overlap) with boundary-aware splitting preserves semantic coherence across chunk boundaries.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08760" y="3474720"/>
            <a:ext cx="45720" cy="5029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737360" y="340156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provides offline, multilingual embeddings — combining dense vector search with lexical calibration for robust retrieval.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508760" y="4389120"/>
            <a:ext cx="45720" cy="5029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737360" y="431596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confidence gating system (threshold = 0.40) ensures low-quality answers are escalated to human review rather than presented as fact.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5349240"/>
            <a:ext cx="576072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474720" y="54864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DDQ-RAG  |  Business Analytics  |  CUHK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15600" y="6400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1095</Words>
  <Application>Microsoft Office PowerPoint</Application>
  <PresentationFormat>Widescreen</PresentationFormat>
  <Paragraphs>177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DDQ-RAG: Intelligent Due Diligence Analysis</dc:title>
  <dc:subject>PptxGenJS Presentation</dc:subject>
  <dc:creator>CUHK Business Analytics</dc:creator>
  <cp:lastModifiedBy>Liu He</cp:lastModifiedBy>
  <cp:revision>8</cp:revision>
  <dcterms:created xsi:type="dcterms:W3CDTF">2026-05-25T14:56:52Z</dcterms:created>
  <dcterms:modified xsi:type="dcterms:W3CDTF">2026-05-29T10:38:57Z</dcterms:modified>
</cp:coreProperties>
</file>